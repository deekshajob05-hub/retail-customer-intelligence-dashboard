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7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44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7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33A"/>
        </a:solidFill>
        <a:ln>
          <a:noFill/>
        </a:ln>
        <a:effectLst/>
      </c:spPr>
    </c:plotArea>
    <c:plotVisOnly val="1"/>
    <c:dispBlanksAs val="span"/>
  </c:chart>
  <c:spPr>
    <a:solidFill>
      <a:srgbClr val="1623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Senior</c:v>
                  </c:pt>
                  <c:pt idx="1">
                    <c:v>Adult</c:v>
                  </c:pt>
                  <c:pt idx="2">
                    <c:v>Middle-aged</c:v>
                  </c:pt>
                  <c:pt idx="3">
                    <c:v>Young Adult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110875</c:v>
                </c:pt>
                <c:pt idx="1">
                  <c:v>44342</c:v>
                </c:pt>
                <c:pt idx="2">
                  <c:v>43234</c:v>
                </c:pt>
                <c:pt idx="3">
                  <c:v>34630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7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5344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7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33A"/>
        </a:solidFill>
        <a:ln>
          <a:noFill/>
        </a:ln>
        <a:effectLst/>
      </c:spPr>
    </c:plotArea>
    <c:plotVisOnly val="1"/>
    <c:dispBlanksAs val="span"/>
  </c:chart>
  <c:spPr>
    <a:solidFill>
      <a:srgbClr val="16233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2DD4BF"/>
              </a:solidFill>
              <a:effectLst/>
            </c:spPr>
          </c:dPt>
          <c:dPt>
            <c:idx val="2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bubble3D val="0"/>
            <c:spPr>
              <a:solidFill>
                <a:srgbClr val="FBBF24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44.7</c:v>
                </c:pt>
                <c:pt idx="1">
                  <c:v>31.8</c:v>
                </c:pt>
                <c:pt idx="2">
                  <c:v>15.5</c:v>
                </c:pt>
                <c:pt idx="3">
                  <c:v>7.9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5F7F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33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2DD4BF"/>
              </a:solidFill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5F7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 (11+ orders)</c:v>
                </c:pt>
                <c:pt idx="1">
                  <c:v>Returning (2-10)</c:v>
                </c:pt>
                <c:pt idx="2">
                  <c:v>New (0-1)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79.9</c:v>
                </c:pt>
                <c:pt idx="1">
                  <c:v>18</c:v>
                </c:pt>
                <c:pt idx="2">
                  <c:v>2.1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5F7F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3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CUSTOMER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Drivers &amp; Customer Segmentation — A Python, SQL &amp; Power BI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</a:rPr>
              <a:t>3,900 retail transactions  •  18 attributes  •  Analyst: Diksha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Total Transactions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B8"/>
                </a:solidFill>
              </a:rPr>
              <a:t>End-to-end retail purchase records across 4 product categories, capturing demographics, spend, and shopping preferences.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8288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97680" y="2606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Data Attributes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2004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B8"/>
                </a:solidFill>
              </a:rPr>
              <a:t>Customer demographics, purchase amount, review ratings, payment method, shipping type, and subscription status.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8288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046720" y="2606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Missing Values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32004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B8"/>
                </a:solidFill>
              </a:rPr>
              <a:t>Confined entirely to Review Rating; resolved via category-level median imputation.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→ PostgreSQL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457200" cy="457200"/>
          </a:xfrm>
          <a:prstGeom prst="ellipse">
            <a:avLst/>
          </a:prstGeom>
          <a:solidFill>
            <a:srgbClr val="1C2C4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55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Data Ingestion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6002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</a:rPr>
              <a:t>Imported the raw transactional dataset using pandas; verified schema and data types.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C2C4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3288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Exploratory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53288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</a:rPr>
              <a:t>Checked distributions, ranges, and structure with df.info() and df.describe().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1C2C4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46557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Missing Value Treatment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465576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</a:rPr>
              <a:t>Imputed 37 missing review ratings using the median rating per product category.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457200" cy="457200"/>
          </a:xfrm>
          <a:prstGeom prst="ellipse">
            <a:avLst/>
          </a:prstGeom>
          <a:solidFill>
            <a:srgbClr val="1C2C4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53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3982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Feature Engineering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4398264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</a:rPr>
              <a:t>Derived age_group bins and a purchase_frequency_days field from stated frequency.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85816"/>
            <a:ext cx="457200" cy="457200"/>
          </a:xfrm>
          <a:prstGeom prst="ellipse">
            <a:avLst/>
          </a:prstGeom>
          <a:solidFill>
            <a:srgbClr val="1C2C4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85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3309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Database Integration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533095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</a:rPr>
              <a:t>Loaded the cleaned dataset into PostgreSQL for structured SQL analysis.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Drivers by Customer Segment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Revenue by Gender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286000"/>
          <a:ext cx="48463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B8"/>
                </a:solidFill>
              </a:rPr>
              <a:t>Male customers (2,652) generate ~68% of total revenue, largely reflecting their 2.1x higher representation in the dataset rather than materially higher per-order spend.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Revenue by Age Group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92240" y="2286000"/>
          <a:ext cx="48463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92240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B8"/>
                </a:solidFill>
              </a:rPr>
              <a:t>Seniors lead revenue at $110,875 — driven by the largest share of customers (1,858) in this dataset, not a higher per-customer spend. Marketing reach should scale with segment size.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 Behavior &amp; Customer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Discount Usage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B8"/>
                </a:solidFill>
              </a:rPr>
              <a:t>Of all transactions include an applied discount — discounting is the norm, not the exception, in this dataset.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8288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~Equal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Spend Parity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0632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B8"/>
                </a:solidFill>
              </a:rPr>
              <a:t>Customers using discounts show nearly identical purchase history (25.7 vs 25.1 avg. past orders) to those who don't — discounts aren't a strong loyalty signal on their own.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8288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Rethink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4672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Actionable 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30632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B8"/>
                </a:solidFill>
              </a:rPr>
              <a:t>Since discount use doesn't correlate with higher long-term engagement, promotions should be tested for actual incremental value rather than assumed to build loyalty.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Performance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852160" cy="4480560"/>
          </a:xfrm>
          <a:prstGeom prst="roundRect">
            <a:avLst>
              <a:gd name="adj" fmla="val 2449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822960" y="18288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55448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49440" y="237744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7B8"/>
                </a:solidFill>
              </a:rPr>
              <a:t>•  Clothing leads with 44.7% of total revenue ($104,264), nearly 1.5x the next closest category.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0" y="342900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7B8"/>
                </a:solidFill>
              </a:rPr>
              <a:t>•  Accessories is a strong secondary pillar at 31.8% ($74,200).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448056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7B8"/>
                </a:solidFill>
              </a:rPr>
              <a:t>•  Footwear and Outerwear together contribute under 24% — possible candidates for either expanded assortment or de-prioritization.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Shipping Preference &amp; Order Value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31520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194560"/>
              </a:tblGrid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5F7FA"/>
                          </a:solidFill>
                        </a:rPr>
                        <a:t>Shipping Type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5F7FA"/>
                          </a:solidFill>
                        </a:rPr>
                        <a:t>Share of Orders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5F7FA"/>
                          </a:solidFill>
                        </a:rPr>
                        <a:t>Avg. Purchase ($)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2-Day Shipping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16.1%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$60.73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Free Shipping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17.3%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$60.41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Express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16.6%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$60.48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Store Pickup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16.7%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$59.89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Standard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16.8%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$58.46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3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Next Day Air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16.6%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9AA7B8"/>
                          </a:solidFill>
                        </a:rPr>
                        <a:t>$58.63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4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6916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Takeaway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242316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B8"/>
                </a:solidFill>
              </a:rPr>
              <a:t>Shipping preference is evenly split across all six methods (~16-17% each), and average order value barely varies ($58.46–$60.73). Shipping choice is not a meaningful revenue lever in this dataset — offer variety matters more than pushing one method.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&amp; Customer Retention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830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</a:rPr>
              <a:t>Subscription 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7B8"/>
                </a:solidFill>
              </a:rPr>
              <a:t>1,053 of 3,900 customers are active subscribers.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7830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$59.49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0" y="2423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</a:rPr>
              <a:t>Avg. Order — Subscribers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7B8"/>
                </a:solidFill>
              </a:rPr>
              <a:t>Slightly below the non-subscriber average.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7830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$59.87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46720" y="2423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</a:rPr>
              <a:t>Avg. Order — Non-Subscribers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7B8"/>
                </a:solidFill>
              </a:rPr>
              <a:t>Marginally higher per-order spend than subscribers.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Strategic Read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7B8"/>
                </a:solidFill>
              </a:rPr>
              <a:t>Subscription status alone does not predict higher order value — subscribers spend marginally less per order than non-subscribers. The subscription program's value likely lies in purchase frequency and retention rather than basket size, so retention messaging should emphasize convenience and consistency, not “higher spenders.”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Segmented by purchase history (Previous Purchases)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22960" y="192024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645920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965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Loyal Customers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0" y="2286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</a:rPr>
              <a:t>3,116 customers (79.9%)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0" y="25877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7B8"/>
                </a:solidFill>
              </a:rPr>
              <a:t>High-value buyers with 11+ prior purchases — the overwhelming majority of the customer base.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Returning Shoppers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17920" y="3657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</a:rPr>
              <a:t>701 customers (18.0%)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39593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7B8"/>
                </a:solidFill>
              </a:rPr>
              <a:t>Moderate engagement, 2–10 prior purchases; the clearest group to move into the Loyal tier.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0" y="4709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New / First-Time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1792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</a:rPr>
              <a:t>83 customers (2.1%)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0" y="53309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7B8"/>
                </a:solidFill>
              </a:rPr>
              <a:t>0–1 prior purchases; small acquisition segment needing onboarding support.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Broaden Retention Focus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7B8"/>
                </a:solidFill>
              </a:rPr>
              <a:t>With 79.9% of customers already Loyal, retention programs should target the large existing base rather than a narrow VIP tier.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5080" y="16002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783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Reassess Discount Strategy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7B8"/>
                </a:solidFill>
              </a:rPr>
              <a:t>Since discount use shows no clear link to higher customer value, test discount ROI directly rather than assuming it builds loyalty.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06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Reposition Subscriptions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7B8"/>
                </a:solidFill>
              </a:rPr>
              <a:t>Market subscriptions around frequency and convenience, not order value — subscribers don't out-spend non-subscribers per order.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402336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206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</a:rPr>
              <a:t>Prioritize Clothing &amp; Accessories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47091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7B8"/>
                </a:solidFill>
              </a:rPr>
              <a:t>These two categories drive 76.5% of revenue combined — concentrate merchandising and campaign spend accordingly.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D4BF"/>
                </a:solidFill>
              </a:rPr>
              <a:t>Questions on the methodology, SQL queries, or dashboard are welcome.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</a:rPr>
              <a:t>github.com/deekshajob05-hub  •  linkedin.com/in/diksha-pujari-819b75366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2026-07-25T17:04:31Z</dcterms:created>
  <dcterms:modified xsi:type="dcterms:W3CDTF">2026-07-25T17:04:31Z</dcterms:modified>
</cp:coreProperties>
</file>